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grandir Narrow Heavy" panose="020B0604020202020204" charset="0"/>
      <p:regular r:id="rId11"/>
    </p:embeddedFont>
    <p:embeddedFont>
      <p:font typeface="Aileron" panose="020B0604020202020204" charset="0"/>
      <p:regular r:id="rId12"/>
    </p:embeddedFont>
    <p:embeddedFont>
      <p:font typeface="Aileron Bold" panose="020B0604020202020204" charset="0"/>
      <p:regular r:id="rId13"/>
    </p:embeddedFont>
    <p:embeddedFont>
      <p:font typeface="Aileron Heavy" panose="020B0604020202020204" charset="0"/>
      <p:regular r:id="rId14"/>
    </p:embeddedFont>
    <p:embeddedFont>
      <p:font typeface="Aileron Ultra-Bold" panose="020B0604020202020204" charset="0"/>
      <p:regular r:id="rId15"/>
    </p:embeddedFont>
    <p:embeddedFont>
      <p:font typeface="Akzidenz-Grotesk Heavy" panose="020B0604020202020204" charset="0"/>
      <p:regular r:id="rId16"/>
    </p:embeddedFont>
    <p:embeddedFont>
      <p:font typeface="League Spartan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6D8148-E8A1-4D65-8873-0937905BA18A}" v="3" dt="2025-10-02T14:09:42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adhya -" userId="c37bb45766cacfd5" providerId="LiveId" clId="{0A1FA460-DCCE-4032-A019-608BCBEC3C71}"/>
    <pc:docChg chg="custSel modSld">
      <pc:chgData name="Aaradhya -" userId="c37bb45766cacfd5" providerId="LiveId" clId="{0A1FA460-DCCE-4032-A019-608BCBEC3C71}" dt="2025-10-02T14:10:37.265" v="8" actId="20577"/>
      <pc:docMkLst>
        <pc:docMk/>
      </pc:docMkLst>
      <pc:sldChg chg="addSp delSp modSp mod">
        <pc:chgData name="Aaradhya -" userId="c37bb45766cacfd5" providerId="LiveId" clId="{0A1FA460-DCCE-4032-A019-608BCBEC3C71}" dt="2025-10-02T14:10:06.393" v="6" actId="1076"/>
        <pc:sldMkLst>
          <pc:docMk/>
          <pc:sldMk cId="0" sldId="258"/>
        </pc:sldMkLst>
        <pc:spChg chg="add mod">
          <ac:chgData name="Aaradhya -" userId="c37bb45766cacfd5" providerId="LiveId" clId="{0A1FA460-DCCE-4032-A019-608BCBEC3C71}" dt="2025-10-02T14:09:42.398" v="3"/>
          <ac:spMkLst>
            <pc:docMk/>
            <pc:sldMk cId="0" sldId="258"/>
            <ac:spMk id="16" creationId="{85556E0E-9C46-CF70-F018-86BC7C825A86}"/>
          </ac:spMkLst>
        </pc:spChg>
        <pc:graphicFrameChg chg="del mod">
          <ac:chgData name="Aaradhya -" userId="c37bb45766cacfd5" providerId="LiveId" clId="{0A1FA460-DCCE-4032-A019-608BCBEC3C71}" dt="2025-10-02T14:09:19.148" v="1" actId="478"/>
          <ac:graphicFrameMkLst>
            <pc:docMk/>
            <pc:sldMk cId="0" sldId="258"/>
            <ac:graphicFrameMk id="13" creationId="{00000000-0000-0000-0000-000000000000}"/>
          </ac:graphicFrameMkLst>
        </pc:graphicFrameChg>
        <pc:graphicFrameChg chg="add mod">
          <ac:chgData name="Aaradhya -" userId="c37bb45766cacfd5" providerId="LiveId" clId="{0A1FA460-DCCE-4032-A019-608BCBEC3C71}" dt="2025-10-02T14:09:41.032" v="2"/>
          <ac:graphicFrameMkLst>
            <pc:docMk/>
            <pc:sldMk cId="0" sldId="258"/>
            <ac:graphicFrameMk id="15" creationId="{0101E526-C30B-18ED-7E19-83C0AF3E4D4D}"/>
          </ac:graphicFrameMkLst>
        </pc:graphicFrameChg>
        <pc:picChg chg="add mod">
          <ac:chgData name="Aaradhya -" userId="c37bb45766cacfd5" providerId="LiveId" clId="{0A1FA460-DCCE-4032-A019-608BCBEC3C71}" dt="2025-10-02T14:10:06.393" v="6" actId="1076"/>
          <ac:picMkLst>
            <pc:docMk/>
            <pc:sldMk cId="0" sldId="258"/>
            <ac:picMk id="18" creationId="{7ACCF502-538C-200D-7844-699BCA56F0FF}"/>
          </ac:picMkLst>
        </pc:picChg>
      </pc:sldChg>
      <pc:sldChg chg="modSp mod">
        <pc:chgData name="Aaradhya -" userId="c37bb45766cacfd5" providerId="LiveId" clId="{0A1FA460-DCCE-4032-A019-608BCBEC3C71}" dt="2025-10-02T14:10:37.265" v="8" actId="20577"/>
        <pc:sldMkLst>
          <pc:docMk/>
          <pc:sldMk cId="0" sldId="264"/>
        </pc:sldMkLst>
        <pc:spChg chg="mod">
          <ac:chgData name="Aaradhya -" userId="c37bb45766cacfd5" providerId="LiveId" clId="{0A1FA460-DCCE-4032-A019-608BCBEC3C71}" dt="2025-10-02T14:10:37.265" v="8" actId="20577"/>
          <ac:spMkLst>
            <pc:docMk/>
            <pc:sldMk cId="0" sldId="264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2.jpeg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961245" cy="10287000"/>
            <a:chOff x="0" y="0"/>
            <a:chExt cx="1233405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405" cy="1593725"/>
            </a:xfrm>
            <a:custGeom>
              <a:avLst/>
              <a:gdLst/>
              <a:ahLst/>
              <a:cxnLst/>
              <a:rect l="l" t="t" r="r" b="b"/>
              <a:pathLst>
                <a:path w="1233405" h="1593725">
                  <a:moveTo>
                    <a:pt x="0" y="0"/>
                  </a:moveTo>
                  <a:lnTo>
                    <a:pt x="1233405" y="0"/>
                  </a:lnTo>
                  <a:lnTo>
                    <a:pt x="123340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6142" r="-361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599241" y="5818409"/>
            <a:ext cx="12106839" cy="3086100"/>
            <a:chOff x="0" y="0"/>
            <a:chExt cx="3188633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88633" cy="812800"/>
            </a:xfrm>
            <a:custGeom>
              <a:avLst/>
              <a:gdLst/>
              <a:ahLst/>
              <a:cxnLst/>
              <a:rect l="l" t="t" r="r" b="b"/>
              <a:pathLst>
                <a:path w="3188633" h="812800">
                  <a:moveTo>
                    <a:pt x="0" y="0"/>
                  </a:moveTo>
                  <a:lnTo>
                    <a:pt x="3188633" y="0"/>
                  </a:lnTo>
                  <a:lnTo>
                    <a:pt x="31886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18863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93146" y="1636398"/>
            <a:ext cx="10052987" cy="10040421"/>
          </a:xfrm>
          <a:custGeom>
            <a:avLst/>
            <a:gdLst/>
            <a:ahLst/>
            <a:cxnLst/>
            <a:rect l="l" t="t" r="r" b="b"/>
            <a:pathLst>
              <a:path w="10052987" h="10040421">
                <a:moveTo>
                  <a:pt x="0" y="0"/>
                </a:moveTo>
                <a:lnTo>
                  <a:pt x="10052987" y="0"/>
                </a:lnTo>
                <a:lnTo>
                  <a:pt x="10052987" y="10040421"/>
                </a:lnTo>
                <a:lnTo>
                  <a:pt x="0" y="10040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8700"/>
            <a:ext cx="4657313" cy="724731"/>
            <a:chOff x="0" y="0"/>
            <a:chExt cx="1226617" cy="1908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6617" cy="190876"/>
            </a:xfrm>
            <a:custGeom>
              <a:avLst/>
              <a:gdLst/>
              <a:ahLst/>
              <a:cxnLst/>
              <a:rect l="l" t="t" r="r" b="b"/>
              <a:pathLst>
                <a:path w="1226617" h="190876">
                  <a:moveTo>
                    <a:pt x="95438" y="0"/>
                  </a:moveTo>
                  <a:lnTo>
                    <a:pt x="1131179" y="0"/>
                  </a:lnTo>
                  <a:cubicBezTo>
                    <a:pt x="1183888" y="0"/>
                    <a:pt x="1226617" y="42729"/>
                    <a:pt x="1226617" y="95438"/>
                  </a:cubicBezTo>
                  <a:lnTo>
                    <a:pt x="1226617" y="95438"/>
                  </a:lnTo>
                  <a:cubicBezTo>
                    <a:pt x="1226617" y="120750"/>
                    <a:pt x="1216562" y="145025"/>
                    <a:pt x="1198664" y="162923"/>
                  </a:cubicBezTo>
                  <a:cubicBezTo>
                    <a:pt x="1180766" y="180821"/>
                    <a:pt x="1156491" y="190876"/>
                    <a:pt x="1131179" y="190876"/>
                  </a:cubicBezTo>
                  <a:lnTo>
                    <a:pt x="95438" y="190876"/>
                  </a:lnTo>
                  <a:cubicBezTo>
                    <a:pt x="42729" y="190876"/>
                    <a:pt x="0" y="148147"/>
                    <a:pt x="0" y="95438"/>
                  </a:cubicBezTo>
                  <a:lnTo>
                    <a:pt x="0" y="95438"/>
                  </a:lnTo>
                  <a:cubicBezTo>
                    <a:pt x="0" y="42729"/>
                    <a:pt x="42729" y="0"/>
                    <a:pt x="95438" y="0"/>
                  </a:cubicBez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226617" cy="248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09275" y="1244910"/>
            <a:ext cx="292311" cy="292311"/>
          </a:xfrm>
          <a:custGeom>
            <a:avLst/>
            <a:gdLst/>
            <a:ahLst/>
            <a:cxnLst/>
            <a:rect l="l" t="t" r="r" b="b"/>
            <a:pathLst>
              <a:path w="292311" h="292311">
                <a:moveTo>
                  <a:pt x="0" y="0"/>
                </a:moveTo>
                <a:lnTo>
                  <a:pt x="292312" y="0"/>
                </a:lnTo>
                <a:lnTo>
                  <a:pt x="292312" y="292311"/>
                </a:lnTo>
                <a:lnTo>
                  <a:pt x="0" y="292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455431" y="2398695"/>
            <a:ext cx="6505813" cy="650581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82303" t="-21183" r="-30416" b="-2062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5663464" y="7662464"/>
            <a:ext cx="1595836" cy="159583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16133165" y="8202625"/>
            <a:ext cx="789785" cy="515514"/>
          </a:xfrm>
          <a:custGeom>
            <a:avLst/>
            <a:gdLst/>
            <a:ahLst/>
            <a:cxnLst/>
            <a:rect l="l" t="t" r="r" b="b"/>
            <a:pathLst>
              <a:path w="789785" h="515514">
                <a:moveTo>
                  <a:pt x="789784" y="0"/>
                </a:moveTo>
                <a:lnTo>
                  <a:pt x="0" y="0"/>
                </a:lnTo>
                <a:lnTo>
                  <a:pt x="0" y="515514"/>
                </a:lnTo>
                <a:lnTo>
                  <a:pt x="789784" y="515514"/>
                </a:lnTo>
                <a:lnTo>
                  <a:pt x="78978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258300" y="1028700"/>
            <a:ext cx="1850797" cy="275937"/>
          </a:xfrm>
          <a:custGeom>
            <a:avLst/>
            <a:gdLst/>
            <a:ahLst/>
            <a:cxnLst/>
            <a:rect l="l" t="t" r="r" b="b"/>
            <a:pathLst>
              <a:path w="1850797" h="275937">
                <a:moveTo>
                  <a:pt x="0" y="0"/>
                </a:moveTo>
                <a:lnTo>
                  <a:pt x="1850797" y="0"/>
                </a:lnTo>
                <a:lnTo>
                  <a:pt x="1850797" y="275937"/>
                </a:lnTo>
                <a:lnTo>
                  <a:pt x="0" y="2759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724422" y="2122470"/>
            <a:ext cx="8458740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1">
                <a:solidFill>
                  <a:srgbClr val="577550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CLIMATE ACTION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24422" y="3075605"/>
            <a:ext cx="9563578" cy="1656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71"/>
              </a:lnSpc>
            </a:pPr>
            <a:r>
              <a:rPr lang="en-US" sz="8265" b="1">
                <a:solidFill>
                  <a:srgbClr val="134E1A"/>
                </a:solidFill>
                <a:latin typeface="Agrandir Narrow Heavy"/>
                <a:ea typeface="Agrandir Narrow Heavy"/>
                <a:cs typeface="Agrandir Narrow Heavy"/>
                <a:sym typeface="Agrandir Narrow Heavy"/>
              </a:rPr>
              <a:t>POLICY BRIEFING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58300" y="6466109"/>
            <a:ext cx="6307532" cy="17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322A2A"/>
                </a:solidFill>
                <a:latin typeface="Aileron Heavy"/>
                <a:ea typeface="Aileron Heavy"/>
                <a:cs typeface="Aileron Heavy"/>
                <a:sym typeface="Aileron Heavy"/>
              </a:rPr>
              <a:t>A Data-Driven Mandate for the International Environmental Agency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2808" y="1144826"/>
            <a:ext cx="3953205" cy="448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DeepData Hackathon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1487176" y="1166668"/>
            <a:ext cx="5218904" cy="0"/>
          </a:xfrm>
          <a:prstGeom prst="line">
            <a:avLst/>
          </a:prstGeom>
          <a:ln w="38100" cap="flat">
            <a:solidFill>
              <a:srgbClr val="57755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14556282" y="490856"/>
            <a:ext cx="3153766" cy="53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Team Datamix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049208"/>
            <a:ext cx="18288000" cy="3237792"/>
            <a:chOff x="0" y="0"/>
            <a:chExt cx="4816593" cy="8527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52752"/>
            </a:xfrm>
            <a:custGeom>
              <a:avLst/>
              <a:gdLst/>
              <a:ahLst/>
              <a:cxnLst/>
              <a:rect l="l" t="t" r="r" b="b"/>
              <a:pathLst>
                <a:path w="4816592" h="852752">
                  <a:moveTo>
                    <a:pt x="0" y="0"/>
                  </a:moveTo>
                  <a:lnTo>
                    <a:pt x="4816592" y="0"/>
                  </a:lnTo>
                  <a:lnTo>
                    <a:pt x="4816592" y="852752"/>
                  </a:lnTo>
                  <a:lnTo>
                    <a:pt x="0" y="852752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09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14356" y="0"/>
            <a:ext cx="3427276" cy="4020223"/>
            <a:chOff x="0" y="0"/>
            <a:chExt cx="902657" cy="1058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260095" y="2064940"/>
            <a:ext cx="4880087" cy="4873987"/>
          </a:xfrm>
          <a:custGeom>
            <a:avLst/>
            <a:gdLst/>
            <a:ahLst/>
            <a:cxnLst/>
            <a:rect l="l" t="t" r="r" b="b"/>
            <a:pathLst>
              <a:path w="4880087" h="4873987">
                <a:moveTo>
                  <a:pt x="0" y="0"/>
                </a:moveTo>
                <a:lnTo>
                  <a:pt x="4880088" y="0"/>
                </a:lnTo>
                <a:lnTo>
                  <a:pt x="4880088" y="4873988"/>
                </a:lnTo>
                <a:lnTo>
                  <a:pt x="0" y="4873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4320528" y="3496120"/>
            <a:ext cx="5227643" cy="10735147"/>
          </a:xfrm>
          <a:custGeom>
            <a:avLst/>
            <a:gdLst/>
            <a:ahLst/>
            <a:cxnLst/>
            <a:rect l="l" t="t" r="r" b="b"/>
            <a:pathLst>
              <a:path w="5227643" h="10735147">
                <a:moveTo>
                  <a:pt x="0" y="0"/>
                </a:moveTo>
                <a:lnTo>
                  <a:pt x="5227643" y="0"/>
                </a:lnTo>
                <a:lnTo>
                  <a:pt x="5227643" y="10735147"/>
                </a:lnTo>
                <a:lnTo>
                  <a:pt x="0" y="107351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1702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71529" y="7049208"/>
            <a:ext cx="10002286" cy="3967153"/>
            <a:chOff x="0" y="0"/>
            <a:chExt cx="1549616" cy="6146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9616" cy="614616"/>
            </a:xfrm>
            <a:custGeom>
              <a:avLst/>
              <a:gdLst/>
              <a:ahLst/>
              <a:cxnLst/>
              <a:rect l="l" t="t" r="r" b="b"/>
              <a:pathLst>
                <a:path w="1549616" h="614616">
                  <a:moveTo>
                    <a:pt x="0" y="0"/>
                  </a:moveTo>
                  <a:lnTo>
                    <a:pt x="1549616" y="0"/>
                  </a:lnTo>
                  <a:lnTo>
                    <a:pt x="1549616" y="614616"/>
                  </a:lnTo>
                  <a:lnTo>
                    <a:pt x="0" y="614616"/>
                  </a:lnTo>
                  <a:close/>
                </a:path>
              </a:pathLst>
            </a:custGeom>
            <a:blipFill>
              <a:blip r:embed="rId4"/>
              <a:stretch>
                <a:fillRect t="-33989" b="-3399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114356" y="2306585"/>
            <a:ext cx="3427276" cy="342727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r="-49953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871130" y="1421840"/>
            <a:ext cx="10002286" cy="562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1">
                <a:solidFill>
                  <a:srgbClr val="00BF63"/>
                </a:solidFill>
                <a:latin typeface="Aileron Bold"/>
                <a:ea typeface="Aileron Bold"/>
                <a:cs typeface="Aileron Bold"/>
                <a:sym typeface="Aileron Bold"/>
              </a:rPr>
              <a:t>Our Goal:</a:t>
            </a:r>
            <a:r>
              <a:rPr lang="en-US" sz="2900">
                <a:solidFill>
                  <a:srgbClr val="322A2A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900" b="1">
                <a:solidFill>
                  <a:srgbClr val="322A2A"/>
                </a:solidFill>
                <a:latin typeface="Aileron Bold"/>
                <a:ea typeface="Aileron Bold"/>
                <a:cs typeface="Aileron Bold"/>
                <a:sym typeface="Aileron Bold"/>
              </a:rPr>
              <a:t>To transform complex climate data (2000-2023) into clear, high-impact, and feasible policy recommendations.</a:t>
            </a:r>
          </a:p>
          <a:p>
            <a:pPr algn="just">
              <a:lnSpc>
                <a:spcPts val="3500"/>
              </a:lnSpc>
            </a:pPr>
            <a:endParaRPr lang="en-US" sz="2900" b="1">
              <a:solidFill>
                <a:srgbClr val="322A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just">
              <a:lnSpc>
                <a:spcPts val="3780"/>
              </a:lnSpc>
            </a:pPr>
            <a:r>
              <a:rPr lang="en-US" sz="2700" b="1">
                <a:solidFill>
                  <a:srgbClr val="00BF63"/>
                </a:solidFill>
                <a:latin typeface="Aileron Bold"/>
                <a:ea typeface="Aileron Bold"/>
                <a:cs typeface="Aileron Bold"/>
                <a:sym typeface="Aileron Bold"/>
              </a:rPr>
              <a:t>Our Process:</a:t>
            </a:r>
          </a:p>
          <a:p>
            <a:pPr marL="561353" lvl="1" indent="-280677" algn="just">
              <a:lnSpc>
                <a:spcPts val="3640"/>
              </a:lnSpc>
              <a:buAutoNum type="arabicPeriod"/>
            </a:pPr>
            <a:r>
              <a:rPr lang="en-US" sz="2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EDA &amp; Trend Analysis: Analyzed 1,000 records across 15 countries to identify critical trends.</a:t>
            </a:r>
          </a:p>
          <a:p>
            <a:pPr marL="561353" lvl="1" indent="-280677" algn="just">
              <a:lnSpc>
                <a:spcPts val="3640"/>
              </a:lnSpc>
              <a:buAutoNum type="arabicPeriod"/>
            </a:pPr>
            <a:r>
              <a:rPr lang="en-US" sz="2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Quantitative Modeling: Used linear regression to calculate the annual rate of change for key indicators.</a:t>
            </a:r>
          </a:p>
          <a:p>
            <a:pPr marL="561353" lvl="1" indent="-280677" algn="just">
              <a:lnSpc>
                <a:spcPts val="3640"/>
              </a:lnSpc>
              <a:buAutoNum type="arabicPeriod"/>
            </a:pPr>
            <a:r>
              <a:rPr lang="en-US" sz="2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Equity Focus: Examined the different roles and responsibilities of Developed vs. Developing nations.</a:t>
            </a:r>
          </a:p>
          <a:p>
            <a:pPr algn="just">
              <a:lnSpc>
                <a:spcPts val="3500"/>
              </a:lnSpc>
            </a:pPr>
            <a:endParaRPr lang="en-US" sz="2600" b="1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6642" y="361803"/>
            <a:ext cx="11085656" cy="84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0"/>
              </a:lnSpc>
              <a:spcBef>
                <a:spcPct val="0"/>
              </a:spcBef>
            </a:pPr>
            <a:r>
              <a:rPr lang="en-US" sz="50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The Mandate: From Data to Policy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701882" y="6382992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21106" y="8922410"/>
            <a:ext cx="6630790" cy="3581724"/>
            <a:chOff x="0" y="0"/>
            <a:chExt cx="1746381" cy="943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6381" cy="943335"/>
            </a:xfrm>
            <a:custGeom>
              <a:avLst/>
              <a:gdLst/>
              <a:ahLst/>
              <a:cxnLst/>
              <a:rect l="l" t="t" r="r" b="b"/>
              <a:pathLst>
                <a:path w="1746381" h="943335">
                  <a:moveTo>
                    <a:pt x="0" y="0"/>
                  </a:moveTo>
                  <a:lnTo>
                    <a:pt x="1746381" y="0"/>
                  </a:lnTo>
                  <a:lnTo>
                    <a:pt x="1746381" y="943335"/>
                  </a:lnTo>
                  <a:lnTo>
                    <a:pt x="0" y="943335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46381" cy="1000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-4639491" y="4304960"/>
            <a:ext cx="3522035" cy="7232621"/>
          </a:xfrm>
          <a:custGeom>
            <a:avLst/>
            <a:gdLst/>
            <a:ahLst/>
            <a:cxnLst/>
            <a:rect l="l" t="t" r="r" b="b"/>
            <a:pathLst>
              <a:path w="3522035" h="7232621">
                <a:moveTo>
                  <a:pt x="0" y="0"/>
                </a:moveTo>
                <a:lnTo>
                  <a:pt x="3522034" y="0"/>
                </a:lnTo>
                <a:lnTo>
                  <a:pt x="3522034" y="7232621"/>
                </a:lnTo>
                <a:lnTo>
                  <a:pt x="0" y="7232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-170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8288000" cy="3926821"/>
            <a:chOff x="0" y="0"/>
            <a:chExt cx="4816593" cy="10342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034225"/>
            </a:xfrm>
            <a:custGeom>
              <a:avLst/>
              <a:gdLst/>
              <a:ahLst/>
              <a:cxnLst/>
              <a:rect l="l" t="t" r="r" b="b"/>
              <a:pathLst>
                <a:path w="4816592" h="1034225">
                  <a:moveTo>
                    <a:pt x="0" y="0"/>
                  </a:moveTo>
                  <a:lnTo>
                    <a:pt x="4816592" y="0"/>
                  </a:lnTo>
                  <a:lnTo>
                    <a:pt x="4816592" y="1034225"/>
                  </a:lnTo>
                  <a:lnTo>
                    <a:pt x="0" y="1034225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16593" cy="109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558442" y="8922410"/>
            <a:ext cx="6630790" cy="7406095"/>
            <a:chOff x="0" y="0"/>
            <a:chExt cx="1027283" cy="11473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7283" cy="1147398"/>
            </a:xfrm>
            <a:custGeom>
              <a:avLst/>
              <a:gdLst/>
              <a:ahLst/>
              <a:cxnLst/>
              <a:rect l="l" t="t" r="r" b="b"/>
              <a:pathLst>
                <a:path w="1027283" h="1147398">
                  <a:moveTo>
                    <a:pt x="0" y="0"/>
                  </a:moveTo>
                  <a:lnTo>
                    <a:pt x="1027283" y="0"/>
                  </a:lnTo>
                  <a:lnTo>
                    <a:pt x="1027283" y="1147398"/>
                  </a:lnTo>
                  <a:lnTo>
                    <a:pt x="0" y="1147398"/>
                  </a:lnTo>
                  <a:close/>
                </a:path>
              </a:pathLst>
            </a:custGeom>
            <a:blipFill>
              <a:blip r:embed="rId3"/>
              <a:stretch>
                <a:fillRect l="-83582" r="-48681" b="-1125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3865152" y="2010782"/>
            <a:ext cx="4575617" cy="3832080"/>
          </a:xfrm>
          <a:custGeom>
            <a:avLst/>
            <a:gdLst/>
            <a:ahLst/>
            <a:cxnLst/>
            <a:rect l="l" t="t" r="r" b="b"/>
            <a:pathLst>
              <a:path w="4575617" h="3832080">
                <a:moveTo>
                  <a:pt x="0" y="0"/>
                </a:moveTo>
                <a:lnTo>
                  <a:pt x="4575617" y="0"/>
                </a:lnTo>
                <a:lnTo>
                  <a:pt x="4575617" y="3832079"/>
                </a:lnTo>
                <a:lnTo>
                  <a:pt x="0" y="3832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54754" y="1802468"/>
            <a:ext cx="2158989" cy="321886"/>
          </a:xfrm>
          <a:custGeom>
            <a:avLst/>
            <a:gdLst/>
            <a:ahLst/>
            <a:cxnLst/>
            <a:rect l="l" t="t" r="r" b="b"/>
            <a:pathLst>
              <a:path w="2158989" h="321886">
                <a:moveTo>
                  <a:pt x="0" y="0"/>
                </a:moveTo>
                <a:lnTo>
                  <a:pt x="2158989" y="0"/>
                </a:lnTo>
                <a:lnTo>
                  <a:pt x="2158989" y="321886"/>
                </a:lnTo>
                <a:lnTo>
                  <a:pt x="0" y="3218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63651" y="533971"/>
            <a:ext cx="18024349" cy="90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64"/>
              </a:lnSpc>
              <a:spcBef>
                <a:spcPct val="0"/>
              </a:spcBef>
            </a:pPr>
            <a:r>
              <a:rPr lang="en-US" sz="54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Finding 1 - T</a:t>
            </a:r>
            <a:r>
              <a:rPr lang="en-US" sz="5400" b="1" u="none" strike="noStrik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he Big Picture: Alarming Global Trends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CCF502-538C-200D-7844-699BCA56F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2551269"/>
            <a:ext cx="14383309" cy="6772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197492" y="1271894"/>
            <a:ext cx="2061808" cy="307397"/>
          </a:xfrm>
          <a:custGeom>
            <a:avLst/>
            <a:gdLst/>
            <a:ahLst/>
            <a:cxnLst/>
            <a:rect l="l" t="t" r="r" b="b"/>
            <a:pathLst>
              <a:path w="2061808" h="307397">
                <a:moveTo>
                  <a:pt x="0" y="0"/>
                </a:moveTo>
                <a:lnTo>
                  <a:pt x="2061808" y="0"/>
                </a:lnTo>
                <a:lnTo>
                  <a:pt x="2061808" y="307396"/>
                </a:lnTo>
                <a:lnTo>
                  <a:pt x="0" y="307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42522" y="2164045"/>
            <a:ext cx="245371" cy="219453"/>
            <a:chOff x="0" y="0"/>
            <a:chExt cx="49992" cy="44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992" cy="44712"/>
            </a:xfrm>
            <a:custGeom>
              <a:avLst/>
              <a:gdLst/>
              <a:ahLst/>
              <a:cxnLst/>
              <a:rect l="l" t="t" r="r" b="b"/>
              <a:pathLst>
                <a:path w="49992" h="44712">
                  <a:moveTo>
                    <a:pt x="0" y="0"/>
                  </a:moveTo>
                  <a:lnTo>
                    <a:pt x="49992" y="0"/>
                  </a:lnTo>
                  <a:lnTo>
                    <a:pt x="49992" y="44712"/>
                  </a:lnTo>
                  <a:lnTo>
                    <a:pt x="0" y="44712"/>
                  </a:ln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9992" cy="101862"/>
            </a:xfrm>
            <a:prstGeom prst="rect">
              <a:avLst/>
            </a:prstGeom>
          </p:spPr>
          <p:txBody>
            <a:bodyPr lIns="65669" tIns="65669" rIns="65669" bIns="65669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2522" y="4159051"/>
            <a:ext cx="245371" cy="219453"/>
            <a:chOff x="0" y="0"/>
            <a:chExt cx="49992" cy="447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92" cy="44712"/>
            </a:xfrm>
            <a:custGeom>
              <a:avLst/>
              <a:gdLst/>
              <a:ahLst/>
              <a:cxnLst/>
              <a:rect l="l" t="t" r="r" b="b"/>
              <a:pathLst>
                <a:path w="49992" h="44712">
                  <a:moveTo>
                    <a:pt x="0" y="0"/>
                  </a:moveTo>
                  <a:lnTo>
                    <a:pt x="49992" y="0"/>
                  </a:lnTo>
                  <a:lnTo>
                    <a:pt x="49992" y="44712"/>
                  </a:lnTo>
                  <a:lnTo>
                    <a:pt x="0" y="44712"/>
                  </a:ln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49992" cy="101862"/>
            </a:xfrm>
            <a:prstGeom prst="rect">
              <a:avLst/>
            </a:prstGeom>
          </p:spPr>
          <p:txBody>
            <a:bodyPr lIns="65669" tIns="65669" rIns="65669" bIns="65669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2522" y="6286750"/>
            <a:ext cx="245371" cy="219453"/>
            <a:chOff x="0" y="0"/>
            <a:chExt cx="49992" cy="447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992" cy="44712"/>
            </a:xfrm>
            <a:custGeom>
              <a:avLst/>
              <a:gdLst/>
              <a:ahLst/>
              <a:cxnLst/>
              <a:rect l="l" t="t" r="r" b="b"/>
              <a:pathLst>
                <a:path w="49992" h="44712">
                  <a:moveTo>
                    <a:pt x="0" y="0"/>
                  </a:moveTo>
                  <a:lnTo>
                    <a:pt x="49992" y="0"/>
                  </a:lnTo>
                  <a:lnTo>
                    <a:pt x="49992" y="44712"/>
                  </a:lnTo>
                  <a:lnTo>
                    <a:pt x="0" y="44712"/>
                  </a:ln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9992" cy="101862"/>
            </a:xfrm>
            <a:prstGeom prst="rect">
              <a:avLst/>
            </a:prstGeom>
          </p:spPr>
          <p:txBody>
            <a:bodyPr lIns="65669" tIns="65669" rIns="65669" bIns="65669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94981" y="370713"/>
            <a:ext cx="17005407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88"/>
              </a:lnSpc>
              <a:spcBef>
                <a:spcPct val="0"/>
              </a:spcBef>
            </a:pPr>
            <a:r>
              <a:rPr lang="en-US" sz="43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Finding 2 - The Eq</a:t>
            </a:r>
            <a:r>
              <a:rPr lang="en-US" sz="4300" b="1" u="none" strike="noStrik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uity Question: A Tale of Two Growth Paths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6353" y="1951448"/>
            <a:ext cx="13853744" cy="7534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1" u="sng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Climate Change Insights</a:t>
            </a:r>
          </a:p>
          <a:p>
            <a:pPr marL="626122" lvl="1" indent="-313061" algn="just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</a:t>
            </a:r>
            <a:r>
              <a:rPr lang="en-US" sz="290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limate change is not a monolithic problem; drivers differ between nations.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endParaRPr lang="en-US" sz="2900" b="1" u="none" strike="noStrike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0" lvl="0" indent="0" algn="just">
              <a:lnSpc>
                <a:spcPts val="4060"/>
              </a:lnSpc>
              <a:spcBef>
                <a:spcPct val="0"/>
              </a:spcBef>
            </a:pPr>
            <a:r>
              <a:rPr lang="en-US" sz="2900" b="1" u="sng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CO₂ Emissions: Burden vs. Growth</a:t>
            </a:r>
          </a:p>
          <a:p>
            <a:pPr marL="626122" lvl="1" indent="-313061" algn="just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Developed Nations: 3× higher per capita emissions (historical burden)</a:t>
            </a:r>
          </a:p>
          <a:p>
            <a:pPr marL="626122" lvl="1" indent="-313061" algn="just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Developing Nations: +9.1% annual emissions growth (future challenge)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endParaRPr lang="en-US" sz="2900" b="1" u="none" strike="noStrike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0" lvl="0" indent="0" algn="just">
              <a:lnSpc>
                <a:spcPts val="4060"/>
              </a:lnSpc>
              <a:spcBef>
                <a:spcPct val="0"/>
              </a:spcBef>
            </a:pPr>
            <a:r>
              <a:rPr lang="en-US" sz="2900" b="1" u="sng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Key Insight:</a:t>
            </a:r>
          </a:p>
          <a:p>
            <a:pPr marL="626122" lvl="1" indent="-313061" algn="just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Rapid industrial growth in developing nations outpaces clean energy adoption.</a:t>
            </a:r>
          </a:p>
          <a:p>
            <a:pPr marL="626122" lvl="1" indent="-313061" algn="just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Policies must fund clean development to prevent long-term emissions lock-in.</a:t>
            </a:r>
          </a:p>
          <a:p>
            <a:pPr marL="0" lvl="0" indent="0" algn="just">
              <a:lnSpc>
                <a:spcPts val="3640"/>
              </a:lnSpc>
              <a:spcBef>
                <a:spcPct val="0"/>
              </a:spcBef>
            </a:pPr>
            <a:endParaRPr lang="en-US" sz="2900" b="1" u="none" strike="noStrike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endParaRPr lang="en-US" sz="2900" b="1" u="none" strike="noStrike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21436" y="288686"/>
            <a:ext cx="15645129" cy="9258300"/>
          </a:xfrm>
          <a:custGeom>
            <a:avLst/>
            <a:gdLst/>
            <a:ahLst/>
            <a:cxnLst/>
            <a:rect l="l" t="t" r="r" b="b"/>
            <a:pathLst>
              <a:path w="15645129" h="9258300">
                <a:moveTo>
                  <a:pt x="0" y="0"/>
                </a:moveTo>
                <a:lnTo>
                  <a:pt x="15645128" y="0"/>
                </a:lnTo>
                <a:lnTo>
                  <a:pt x="1564512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97" b="-492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4270" y="1692017"/>
            <a:ext cx="6881953" cy="742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207" lvl="1" indent="-333604" algn="just">
              <a:lnSpc>
                <a:spcPts val="4326"/>
              </a:lnSpc>
              <a:spcBef>
                <a:spcPct val="0"/>
              </a:spcBef>
              <a:buFont typeface="Arial"/>
              <a:buChar char="•"/>
            </a:pPr>
            <a:r>
              <a:rPr lang="en-US" sz="309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CO2 emissions </a:t>
            </a:r>
            <a:r>
              <a:rPr lang="en-US" sz="309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are influenced by multiple factors, not just population.</a:t>
            </a:r>
          </a:p>
          <a:p>
            <a:pPr algn="just">
              <a:lnSpc>
                <a:spcPts val="4326"/>
              </a:lnSpc>
              <a:spcBef>
                <a:spcPct val="0"/>
              </a:spcBef>
            </a:pPr>
            <a:endParaRPr lang="en-US" sz="3090" b="1" u="none" strike="noStrike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667207" lvl="1" indent="-333604" algn="just">
              <a:lnSpc>
                <a:spcPts val="4326"/>
              </a:lnSpc>
              <a:spcBef>
                <a:spcPct val="0"/>
              </a:spcBef>
              <a:buFont typeface="Arial"/>
              <a:buChar char="•"/>
            </a:pPr>
            <a:r>
              <a:rPr lang="en-US" sz="309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Forest area and rainfall are not directly linked to CO2 alone.</a:t>
            </a:r>
          </a:p>
          <a:p>
            <a:pPr algn="just">
              <a:lnSpc>
                <a:spcPts val="4326"/>
              </a:lnSpc>
              <a:spcBef>
                <a:spcPct val="0"/>
              </a:spcBef>
            </a:pPr>
            <a:endParaRPr lang="en-US" sz="3090" b="1" u="none" strike="noStrike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667207" lvl="1" indent="-333604" algn="just">
              <a:lnSpc>
                <a:spcPts val="4326"/>
              </a:lnSpc>
              <a:spcBef>
                <a:spcPct val="0"/>
              </a:spcBef>
              <a:buFont typeface="Arial"/>
              <a:buChar char="•"/>
            </a:pPr>
            <a:r>
              <a:rPr lang="en-US" sz="309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Climate change is multifaceted: development, emissions, and population all interact.</a:t>
            </a:r>
          </a:p>
          <a:p>
            <a:pPr algn="just">
              <a:lnSpc>
                <a:spcPts val="4326"/>
              </a:lnSpc>
              <a:spcBef>
                <a:spcPct val="0"/>
              </a:spcBef>
            </a:pPr>
            <a:endParaRPr lang="en-US" sz="3090" b="1" u="none" strike="noStrike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667207" lvl="1" indent="-333604" algn="just">
              <a:lnSpc>
                <a:spcPts val="4326"/>
              </a:lnSpc>
              <a:spcBef>
                <a:spcPct val="0"/>
              </a:spcBef>
              <a:buFont typeface="Arial"/>
              <a:buChar char="•"/>
            </a:pPr>
            <a:r>
              <a:rPr lang="en-US" sz="3090" b="1" u="none" strike="noStrike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Everything impacts climate, making it a complex system.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3090" b="1" u="none" strike="noStrike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1319146"/>
            <a:chOff x="0" y="0"/>
            <a:chExt cx="4816593" cy="347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47429"/>
            </a:xfrm>
            <a:custGeom>
              <a:avLst/>
              <a:gdLst/>
              <a:ahLst/>
              <a:cxnLst/>
              <a:rect l="l" t="t" r="r" b="b"/>
              <a:pathLst>
                <a:path w="4816592" h="347429">
                  <a:moveTo>
                    <a:pt x="0" y="0"/>
                  </a:moveTo>
                  <a:lnTo>
                    <a:pt x="4816592" y="0"/>
                  </a:lnTo>
                  <a:lnTo>
                    <a:pt x="4816592" y="347429"/>
                  </a:lnTo>
                  <a:lnTo>
                    <a:pt x="0" y="347429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16593" cy="404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52799" y="1604993"/>
            <a:ext cx="2061808" cy="307397"/>
          </a:xfrm>
          <a:custGeom>
            <a:avLst/>
            <a:gdLst/>
            <a:ahLst/>
            <a:cxnLst/>
            <a:rect l="l" t="t" r="r" b="b"/>
            <a:pathLst>
              <a:path w="2061808" h="307397">
                <a:moveTo>
                  <a:pt x="0" y="0"/>
                </a:moveTo>
                <a:lnTo>
                  <a:pt x="2061807" y="0"/>
                </a:lnTo>
                <a:lnTo>
                  <a:pt x="2061807" y="307397"/>
                </a:lnTo>
                <a:lnTo>
                  <a:pt x="0" y="307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1837056" y="8707600"/>
            <a:ext cx="3158800" cy="31588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 rot="130547">
              <a:off x="-8228" y="-8228"/>
              <a:ext cx="829257" cy="829257"/>
            </a:xfrm>
            <a:custGeom>
              <a:avLst/>
              <a:gdLst/>
              <a:ahLst/>
              <a:cxnLst/>
              <a:rect l="l" t="t" r="r" b="b"/>
              <a:pathLst>
                <a:path w="829257" h="829257">
                  <a:moveTo>
                    <a:pt x="399199" y="8521"/>
                  </a:moveTo>
                  <a:cubicBezTo>
                    <a:pt x="174912" y="17042"/>
                    <a:pt x="0" y="205771"/>
                    <a:pt x="8521" y="430057"/>
                  </a:cubicBezTo>
                  <a:cubicBezTo>
                    <a:pt x="17042" y="654344"/>
                    <a:pt x="205771" y="829256"/>
                    <a:pt x="430057" y="820735"/>
                  </a:cubicBezTo>
                  <a:cubicBezTo>
                    <a:pt x="654344" y="812214"/>
                    <a:pt x="829256" y="623485"/>
                    <a:pt x="820735" y="399199"/>
                  </a:cubicBezTo>
                  <a:cubicBezTo>
                    <a:pt x="812214" y="174912"/>
                    <a:pt x="623485" y="0"/>
                    <a:pt x="399199" y="8521"/>
                  </a:cubicBezTo>
                  <a:close/>
                </a:path>
              </a:pathLst>
            </a:custGeom>
            <a:blipFill>
              <a:blip r:embed="rId4"/>
              <a:stretch>
                <a:fillRect t="-602" r="-949" b="-2558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692892" y="8010686"/>
            <a:ext cx="7890811" cy="789081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r="-49953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7198484" y="1277733"/>
            <a:ext cx="11089516" cy="8325227"/>
          </a:xfrm>
          <a:custGeom>
            <a:avLst/>
            <a:gdLst/>
            <a:ahLst/>
            <a:cxnLst/>
            <a:rect l="l" t="t" r="r" b="b"/>
            <a:pathLst>
              <a:path w="11089516" h="8325227">
                <a:moveTo>
                  <a:pt x="0" y="0"/>
                </a:moveTo>
                <a:lnTo>
                  <a:pt x="11089516" y="0"/>
                </a:lnTo>
                <a:lnTo>
                  <a:pt x="11089516" y="8325227"/>
                </a:lnTo>
                <a:lnTo>
                  <a:pt x="0" y="8325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35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06967" y="267651"/>
            <a:ext cx="17005407" cy="717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88"/>
              </a:lnSpc>
              <a:spcBef>
                <a:spcPct val="0"/>
              </a:spcBef>
            </a:pPr>
            <a:r>
              <a:rPr lang="en-US" sz="43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KEY FINDINGS FROM EDA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20876"/>
            <a:ext cx="18288000" cy="733900"/>
            <a:chOff x="0" y="0"/>
            <a:chExt cx="4816593" cy="193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93290"/>
            </a:xfrm>
            <a:custGeom>
              <a:avLst/>
              <a:gdLst/>
              <a:ahLst/>
              <a:cxnLst/>
              <a:rect l="l" t="t" r="r" b="b"/>
              <a:pathLst>
                <a:path w="4816592" h="193290">
                  <a:moveTo>
                    <a:pt x="0" y="0"/>
                  </a:moveTo>
                  <a:lnTo>
                    <a:pt x="4816592" y="0"/>
                  </a:lnTo>
                  <a:lnTo>
                    <a:pt x="4816592" y="193290"/>
                  </a:lnTo>
                  <a:lnTo>
                    <a:pt x="0" y="193290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250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 flipV="1">
            <a:off x="1986274" y="5437255"/>
            <a:ext cx="2239854" cy="4599618"/>
          </a:xfrm>
          <a:custGeom>
            <a:avLst/>
            <a:gdLst/>
            <a:ahLst/>
            <a:cxnLst/>
            <a:rect l="l" t="t" r="r" b="b"/>
            <a:pathLst>
              <a:path w="2239854" h="4599618">
                <a:moveTo>
                  <a:pt x="0" y="4599618"/>
                </a:moveTo>
                <a:lnTo>
                  <a:pt x="2239853" y="4599618"/>
                </a:lnTo>
                <a:lnTo>
                  <a:pt x="2239853" y="0"/>
                </a:lnTo>
                <a:lnTo>
                  <a:pt x="0" y="0"/>
                </a:lnTo>
                <a:lnTo>
                  <a:pt x="0" y="4599618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-170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0"/>
            <a:ext cx="4212283" cy="8248940"/>
            <a:chOff x="0" y="0"/>
            <a:chExt cx="652593" cy="1277977"/>
          </a:xfrm>
        </p:grpSpPr>
        <p:sp>
          <p:nvSpPr>
            <p:cNvPr id="7" name="Freeform 7"/>
            <p:cNvSpPr/>
            <p:nvPr/>
          </p:nvSpPr>
          <p:spPr>
            <a:xfrm rot="143170">
              <a:off x="-26321" y="-13031"/>
              <a:ext cx="705235" cy="1304039"/>
            </a:xfrm>
            <a:custGeom>
              <a:avLst/>
              <a:gdLst/>
              <a:ahLst/>
              <a:cxnLst/>
              <a:rect l="l" t="t" r="r" b="b"/>
              <a:pathLst>
                <a:path w="705235" h="1304039">
                  <a:moveTo>
                    <a:pt x="0" y="27170"/>
                  </a:moveTo>
                  <a:lnTo>
                    <a:pt x="652027" y="0"/>
                  </a:lnTo>
                  <a:lnTo>
                    <a:pt x="705235" y="1276868"/>
                  </a:lnTo>
                  <a:lnTo>
                    <a:pt x="53208" y="1304039"/>
                  </a:lnTo>
                  <a:close/>
                </a:path>
              </a:pathLst>
            </a:custGeom>
            <a:blipFill>
              <a:blip r:embed="rId3"/>
              <a:stretch>
                <a:fillRect l="-161985" r="-24109" b="-30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639087" y="2730191"/>
            <a:ext cx="728840" cy="7288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39087" y="4943092"/>
            <a:ext cx="728840" cy="72884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392939" y="2895294"/>
            <a:ext cx="728840" cy="7288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392939" y="5381341"/>
            <a:ext cx="728840" cy="72884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5893072" y="2929508"/>
            <a:ext cx="220869" cy="330206"/>
          </a:xfrm>
          <a:custGeom>
            <a:avLst/>
            <a:gdLst/>
            <a:ahLst/>
            <a:cxnLst/>
            <a:rect l="l" t="t" r="r" b="b"/>
            <a:pathLst>
              <a:path w="220869" h="330206">
                <a:moveTo>
                  <a:pt x="0" y="0"/>
                </a:moveTo>
                <a:lnTo>
                  <a:pt x="220869" y="0"/>
                </a:lnTo>
                <a:lnTo>
                  <a:pt x="220869" y="330206"/>
                </a:lnTo>
                <a:lnTo>
                  <a:pt x="0" y="33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894725" y="5142409"/>
            <a:ext cx="220869" cy="330206"/>
          </a:xfrm>
          <a:custGeom>
            <a:avLst/>
            <a:gdLst/>
            <a:ahLst/>
            <a:cxnLst/>
            <a:rect l="l" t="t" r="r" b="b"/>
            <a:pathLst>
              <a:path w="220869" h="330206">
                <a:moveTo>
                  <a:pt x="0" y="0"/>
                </a:moveTo>
                <a:lnTo>
                  <a:pt x="220868" y="0"/>
                </a:lnTo>
                <a:lnTo>
                  <a:pt x="220868" y="330205"/>
                </a:lnTo>
                <a:lnTo>
                  <a:pt x="0" y="330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646925" y="3094611"/>
            <a:ext cx="220869" cy="330206"/>
          </a:xfrm>
          <a:custGeom>
            <a:avLst/>
            <a:gdLst/>
            <a:ahLst/>
            <a:cxnLst/>
            <a:rect l="l" t="t" r="r" b="b"/>
            <a:pathLst>
              <a:path w="220869" h="330206">
                <a:moveTo>
                  <a:pt x="0" y="0"/>
                </a:moveTo>
                <a:lnTo>
                  <a:pt x="220869" y="0"/>
                </a:lnTo>
                <a:lnTo>
                  <a:pt x="220869" y="330206"/>
                </a:lnTo>
                <a:lnTo>
                  <a:pt x="0" y="33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646925" y="5546444"/>
            <a:ext cx="220869" cy="330206"/>
          </a:xfrm>
          <a:custGeom>
            <a:avLst/>
            <a:gdLst/>
            <a:ahLst/>
            <a:cxnLst/>
            <a:rect l="l" t="t" r="r" b="b"/>
            <a:pathLst>
              <a:path w="220869" h="330206">
                <a:moveTo>
                  <a:pt x="0" y="0"/>
                </a:moveTo>
                <a:lnTo>
                  <a:pt x="220869" y="0"/>
                </a:lnTo>
                <a:lnTo>
                  <a:pt x="220869" y="330205"/>
                </a:lnTo>
                <a:lnTo>
                  <a:pt x="0" y="330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3948384" y="-2795743"/>
            <a:ext cx="6768900" cy="676890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5903072" y="-105890"/>
            <a:ext cx="5617097" cy="3433450"/>
          </a:xfrm>
          <a:custGeom>
            <a:avLst/>
            <a:gdLst/>
            <a:ahLst/>
            <a:cxnLst/>
            <a:rect l="l" t="t" r="r" b="b"/>
            <a:pathLst>
              <a:path w="5617097" h="3433450">
                <a:moveTo>
                  <a:pt x="0" y="0"/>
                </a:moveTo>
                <a:lnTo>
                  <a:pt x="5617097" y="0"/>
                </a:lnTo>
                <a:lnTo>
                  <a:pt x="5617097" y="3433451"/>
                </a:lnTo>
                <a:lnTo>
                  <a:pt x="0" y="34334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457858" y="2022053"/>
            <a:ext cx="1295643" cy="1561016"/>
          </a:xfrm>
          <a:custGeom>
            <a:avLst/>
            <a:gdLst/>
            <a:ahLst/>
            <a:cxnLst/>
            <a:rect l="l" t="t" r="r" b="b"/>
            <a:pathLst>
              <a:path w="1295643" h="1561016">
                <a:moveTo>
                  <a:pt x="0" y="0"/>
                </a:moveTo>
                <a:lnTo>
                  <a:pt x="1295643" y="0"/>
                </a:lnTo>
                <a:lnTo>
                  <a:pt x="1295643" y="1561016"/>
                </a:lnTo>
                <a:lnTo>
                  <a:pt x="0" y="15610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475336" y="1477037"/>
            <a:ext cx="780036" cy="880154"/>
          </a:xfrm>
          <a:custGeom>
            <a:avLst/>
            <a:gdLst/>
            <a:ahLst/>
            <a:cxnLst/>
            <a:rect l="l" t="t" r="r" b="b"/>
            <a:pathLst>
              <a:path w="780036" h="880154">
                <a:moveTo>
                  <a:pt x="0" y="0"/>
                </a:moveTo>
                <a:lnTo>
                  <a:pt x="780036" y="0"/>
                </a:lnTo>
                <a:lnTo>
                  <a:pt x="780036" y="880154"/>
                </a:lnTo>
                <a:lnTo>
                  <a:pt x="0" y="8801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6215252" y="212405"/>
            <a:ext cx="7161632" cy="204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40"/>
              </a:lnSpc>
              <a:spcBef>
                <a:spcPct val="0"/>
              </a:spcBef>
            </a:pPr>
            <a:r>
              <a:rPr lang="en-US" sz="65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Our</a:t>
            </a:r>
            <a:r>
              <a:rPr lang="en-US" sz="6500" b="1" u="none" strike="noStrik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5-Point Action Plan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29263" y="2745411"/>
            <a:ext cx="3923891" cy="174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1" u="sng">
                <a:solidFill>
                  <a:srgbClr val="004AAD"/>
                </a:solidFill>
                <a:latin typeface="Aileron Bold"/>
                <a:ea typeface="Aileron Bold"/>
                <a:cs typeface="Aileron Bold"/>
                <a:sym typeface="Aileron Bold"/>
              </a:rPr>
              <a:t>Global Carbon Price</a:t>
            </a:r>
            <a:r>
              <a:rPr lang="en-US" sz="2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: Unified carbon pricing to cut fossil fuels &amp; fund climate action.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10893" y="4844062"/>
            <a:ext cx="3976287" cy="174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00"/>
              </a:lnSpc>
              <a:spcBef>
                <a:spcPct val="0"/>
              </a:spcBef>
            </a:pPr>
            <a:r>
              <a:rPr lang="en-US" sz="2500" b="1" u="sng" strike="noStrike">
                <a:solidFill>
                  <a:srgbClr val="004AAD"/>
                </a:solidFill>
                <a:latin typeface="Aileron Bold"/>
                <a:ea typeface="Aileron Bold"/>
                <a:cs typeface="Aileron Bold"/>
                <a:sym typeface="Aileron Bold"/>
              </a:rPr>
              <a:t>Renewable Accelerator</a:t>
            </a:r>
            <a:r>
              <a:rPr lang="en-US" sz="2500" b="1" u="none" strike="noStrik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: $1T fund to boost renewables in developing nations to 5% by 2030.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267352" y="2852383"/>
            <a:ext cx="3379713" cy="218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“</a:t>
            </a:r>
            <a:r>
              <a:rPr lang="en-US" sz="2500" b="1" u="sng">
                <a:solidFill>
                  <a:srgbClr val="004AAD"/>
                </a:solidFill>
                <a:latin typeface="Aileron Bold"/>
                <a:ea typeface="Aileron Bold"/>
                <a:cs typeface="Aileron Bold"/>
                <a:sym typeface="Aileron Bold"/>
              </a:rPr>
              <a:t>World’s Lungs</a:t>
            </a:r>
            <a:r>
              <a:rPr lang="en-US" sz="2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” Protection: Ban deforestation in Amazon &amp; Congo to restore forests.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225544" y="5415464"/>
            <a:ext cx="4421426" cy="174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1" u="sng">
                <a:solidFill>
                  <a:srgbClr val="004AAD"/>
                </a:solidFill>
                <a:latin typeface="Aileron Bold"/>
                <a:ea typeface="Aileron Bold"/>
                <a:cs typeface="Aileron Bold"/>
                <a:sym typeface="Aileron Bold"/>
              </a:rPr>
              <a:t>Coastal &amp; SIDS Fund:</a:t>
            </a:r>
            <a:r>
              <a:rPr lang="en-US" sz="2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Finance coastal defenses for Small Island Developing States.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644032" y="6833497"/>
            <a:ext cx="728840" cy="728840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5898017" y="7032814"/>
            <a:ext cx="220869" cy="330206"/>
          </a:xfrm>
          <a:custGeom>
            <a:avLst/>
            <a:gdLst/>
            <a:ahLst/>
            <a:cxnLst/>
            <a:rect l="l" t="t" r="r" b="b"/>
            <a:pathLst>
              <a:path w="220869" h="330206">
                <a:moveTo>
                  <a:pt x="0" y="0"/>
                </a:moveTo>
                <a:lnTo>
                  <a:pt x="220869" y="0"/>
                </a:lnTo>
                <a:lnTo>
                  <a:pt x="220869" y="330206"/>
                </a:lnTo>
                <a:lnTo>
                  <a:pt x="0" y="330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6610893" y="6776347"/>
            <a:ext cx="4156367" cy="174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00"/>
              </a:lnSpc>
              <a:spcBef>
                <a:spcPct val="0"/>
              </a:spcBef>
            </a:pPr>
            <a:r>
              <a:rPr lang="en-US" sz="2500" b="1" u="sng" strike="noStrike">
                <a:solidFill>
                  <a:srgbClr val="004AAD"/>
                </a:solidFill>
                <a:latin typeface="Aileron Bold"/>
                <a:ea typeface="Aileron Bold"/>
                <a:cs typeface="Aileron Bold"/>
                <a:sym typeface="Aileron Bold"/>
              </a:rPr>
              <a:t>Resilience &amp; Early Warning</a:t>
            </a:r>
            <a:r>
              <a:rPr lang="en-US" sz="2500" b="1" u="none" strike="noStrik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: Invest in analytics &amp; infrastructure to protect vulnerable populations.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955694" cy="10287000"/>
            <a:chOff x="0" y="0"/>
            <a:chExt cx="51508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5080" cy="2709333"/>
            </a:xfrm>
            <a:custGeom>
              <a:avLst/>
              <a:gdLst/>
              <a:ahLst/>
              <a:cxnLst/>
              <a:rect l="l" t="t" r="r" b="b"/>
              <a:pathLst>
                <a:path w="515080" h="2709333">
                  <a:moveTo>
                    <a:pt x="0" y="0"/>
                  </a:moveTo>
                  <a:lnTo>
                    <a:pt x="515080" y="0"/>
                  </a:lnTo>
                  <a:lnTo>
                    <a:pt x="5150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508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4117" y="1210183"/>
            <a:ext cx="2552796" cy="255279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4E1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603297" y="2083706"/>
            <a:ext cx="1234436" cy="805750"/>
          </a:xfrm>
          <a:custGeom>
            <a:avLst/>
            <a:gdLst/>
            <a:ahLst/>
            <a:cxnLst/>
            <a:rect l="l" t="t" r="r" b="b"/>
            <a:pathLst>
              <a:path w="1234436" h="805750">
                <a:moveTo>
                  <a:pt x="1234436" y="0"/>
                </a:moveTo>
                <a:lnTo>
                  <a:pt x="0" y="0"/>
                </a:lnTo>
                <a:lnTo>
                  <a:pt x="0" y="805750"/>
                </a:lnTo>
                <a:lnTo>
                  <a:pt x="1234436" y="805750"/>
                </a:lnTo>
                <a:lnTo>
                  <a:pt x="12344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720027" y="413287"/>
            <a:ext cx="10083734" cy="191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076"/>
              </a:lnSpc>
              <a:spcBef>
                <a:spcPct val="0"/>
              </a:spcBef>
            </a:pPr>
            <a:r>
              <a:rPr lang="en-US" sz="61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</a:t>
            </a:r>
            <a:r>
              <a:rPr lang="en-US" sz="6100" b="1" u="none" strike="noStrik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onclusion &amp; Call to Action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96913" y="5095875"/>
            <a:ext cx="4093513" cy="1810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Emissions are rising too fast, and our natural defenses (forests) are collapsing.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996960" y="2893899"/>
            <a:ext cx="5647087" cy="1197379"/>
            <a:chOff x="0" y="0"/>
            <a:chExt cx="7529449" cy="159650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529449" cy="1596506"/>
              <a:chOff x="0" y="0"/>
              <a:chExt cx="1487299" cy="31535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87299" cy="315359"/>
              </a:xfrm>
              <a:custGeom>
                <a:avLst/>
                <a:gdLst/>
                <a:ahLst/>
                <a:cxnLst/>
                <a:rect l="l" t="t" r="r" b="b"/>
                <a:pathLst>
                  <a:path w="1487299" h="315359">
                    <a:moveTo>
                      <a:pt x="137096" y="0"/>
                    </a:moveTo>
                    <a:lnTo>
                      <a:pt x="1350203" y="0"/>
                    </a:lnTo>
                    <a:cubicBezTo>
                      <a:pt x="1425919" y="0"/>
                      <a:pt x="1487299" y="61380"/>
                      <a:pt x="1487299" y="137096"/>
                    </a:cubicBezTo>
                    <a:lnTo>
                      <a:pt x="1487299" y="178263"/>
                    </a:lnTo>
                    <a:cubicBezTo>
                      <a:pt x="1487299" y="253979"/>
                      <a:pt x="1425919" y="315359"/>
                      <a:pt x="1350203" y="315359"/>
                    </a:cubicBezTo>
                    <a:lnTo>
                      <a:pt x="137096" y="315359"/>
                    </a:lnTo>
                    <a:cubicBezTo>
                      <a:pt x="61380" y="315359"/>
                      <a:pt x="0" y="253979"/>
                      <a:pt x="0" y="178263"/>
                    </a:cubicBezTo>
                    <a:lnTo>
                      <a:pt x="0" y="137096"/>
                    </a:lnTo>
                    <a:cubicBezTo>
                      <a:pt x="0" y="61380"/>
                      <a:pt x="61380" y="0"/>
                      <a:pt x="137096" y="0"/>
                    </a:cubicBezTo>
                    <a:close/>
                  </a:path>
                </a:pathLst>
              </a:custGeom>
              <a:solidFill>
                <a:srgbClr val="D9DFCE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1487299" cy="3725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48180" y="478171"/>
              <a:ext cx="6633090" cy="611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712"/>
                </a:lnSpc>
              </a:pPr>
              <a:r>
                <a:rPr lang="en-US" sz="2900" b="1">
                  <a:solidFill>
                    <a:srgbClr val="000000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The Data Demands Action !!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97381" y="7570480"/>
            <a:ext cx="14406380" cy="1586161"/>
            <a:chOff x="0" y="0"/>
            <a:chExt cx="19208506" cy="2114882"/>
          </a:xfrm>
        </p:grpSpPr>
        <p:grpSp>
          <p:nvGrpSpPr>
            <p:cNvPr id="17" name="Group 17"/>
            <p:cNvGrpSpPr/>
            <p:nvPr/>
          </p:nvGrpSpPr>
          <p:grpSpPr>
            <a:xfrm>
              <a:off x="6474314" y="0"/>
              <a:ext cx="5426918" cy="2114882"/>
              <a:chOff x="0" y="0"/>
              <a:chExt cx="1071984" cy="41775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71984" cy="417754"/>
              </a:xfrm>
              <a:custGeom>
                <a:avLst/>
                <a:gdLst/>
                <a:ahLst/>
                <a:cxnLst/>
                <a:rect l="l" t="t" r="r" b="b"/>
                <a:pathLst>
                  <a:path w="1071984" h="417754">
                    <a:moveTo>
                      <a:pt x="0" y="0"/>
                    </a:moveTo>
                    <a:lnTo>
                      <a:pt x="1071984" y="0"/>
                    </a:lnTo>
                    <a:lnTo>
                      <a:pt x="1071984" y="417754"/>
                    </a:lnTo>
                    <a:lnTo>
                      <a:pt x="0" y="417754"/>
                    </a:lnTo>
                    <a:close/>
                  </a:path>
                </a:pathLst>
              </a:custGeom>
              <a:solidFill>
                <a:srgbClr val="57755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1071984" cy="4844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62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2897234" y="0"/>
              <a:ext cx="6311272" cy="2114882"/>
              <a:chOff x="0" y="0"/>
              <a:chExt cx="1246671" cy="41775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46671" cy="417754"/>
              </a:xfrm>
              <a:custGeom>
                <a:avLst/>
                <a:gdLst/>
                <a:ahLst/>
                <a:cxnLst/>
                <a:rect l="l" t="t" r="r" b="b"/>
                <a:pathLst>
                  <a:path w="1246671" h="417754">
                    <a:moveTo>
                      <a:pt x="0" y="0"/>
                    </a:moveTo>
                    <a:lnTo>
                      <a:pt x="1246671" y="0"/>
                    </a:lnTo>
                    <a:lnTo>
                      <a:pt x="1246671" y="417754"/>
                    </a:lnTo>
                    <a:lnTo>
                      <a:pt x="0" y="417754"/>
                    </a:lnTo>
                    <a:close/>
                  </a:path>
                </a:pathLst>
              </a:custGeom>
              <a:solidFill>
                <a:srgbClr val="57755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66675"/>
                <a:ext cx="1246671" cy="4844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62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0"/>
              <a:ext cx="5452615" cy="2114882"/>
              <a:chOff x="0" y="0"/>
              <a:chExt cx="1077060" cy="41775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077060" cy="417754"/>
              </a:xfrm>
              <a:custGeom>
                <a:avLst/>
                <a:gdLst/>
                <a:ahLst/>
                <a:cxnLst/>
                <a:rect l="l" t="t" r="r" b="b"/>
                <a:pathLst>
                  <a:path w="1077060" h="417754">
                    <a:moveTo>
                      <a:pt x="0" y="0"/>
                    </a:moveTo>
                    <a:lnTo>
                      <a:pt x="1077060" y="0"/>
                    </a:lnTo>
                    <a:lnTo>
                      <a:pt x="1077060" y="417754"/>
                    </a:lnTo>
                    <a:lnTo>
                      <a:pt x="0" y="417754"/>
                    </a:lnTo>
                    <a:close/>
                  </a:path>
                </a:pathLst>
              </a:custGeom>
              <a:solidFill>
                <a:srgbClr val="57755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66675"/>
                <a:ext cx="1077060" cy="4844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62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084128" y="191114"/>
              <a:ext cx="3284359" cy="1504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20"/>
                </a:lnSpc>
                <a:spcBef>
                  <a:spcPct val="0"/>
                </a:spcBef>
              </a:pPr>
              <a:r>
                <a:rPr lang="en-US" sz="3300" b="1">
                  <a:solidFill>
                    <a:srgbClr val="FEFFFA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THE PROBLEM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163714" y="263469"/>
              <a:ext cx="5719095" cy="1504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20"/>
                </a:lnSpc>
                <a:spcBef>
                  <a:spcPct val="0"/>
                </a:spcBef>
              </a:pPr>
              <a:r>
                <a:rPr lang="en-US" sz="3300" b="1">
                  <a:solidFill>
                    <a:srgbClr val="FEFFFA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OUR RECOMMENDATION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96740" y="208041"/>
              <a:ext cx="3203164" cy="15043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20"/>
                </a:lnSpc>
                <a:spcBef>
                  <a:spcPct val="0"/>
                </a:spcBef>
              </a:pPr>
              <a:r>
                <a:rPr lang="en-US" sz="3300" b="1">
                  <a:solidFill>
                    <a:srgbClr val="FEFFFA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THE MANDATE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7434182" y="2486581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289091" y="5095875"/>
            <a:ext cx="4093513" cy="1884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Global climate action is not enough; it must be exponential and equitable.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165787" y="5095875"/>
            <a:ext cx="4637973" cy="226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Immediately establish the legal framework for the Global Carbon Price to fund the other four pillars of this action plan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009507" y="2486581"/>
            <a:ext cx="2148398" cy="2148398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 rot="130547">
              <a:off x="-8228" y="-8228"/>
              <a:ext cx="829257" cy="829257"/>
            </a:xfrm>
            <a:custGeom>
              <a:avLst/>
              <a:gdLst/>
              <a:ahLst/>
              <a:cxnLst/>
              <a:rect l="l" t="t" r="r" b="b"/>
              <a:pathLst>
                <a:path w="829257" h="829257">
                  <a:moveTo>
                    <a:pt x="399199" y="8521"/>
                  </a:moveTo>
                  <a:cubicBezTo>
                    <a:pt x="174912" y="17042"/>
                    <a:pt x="0" y="205771"/>
                    <a:pt x="8521" y="430057"/>
                  </a:cubicBezTo>
                  <a:cubicBezTo>
                    <a:pt x="17042" y="654344"/>
                    <a:pt x="205771" y="829256"/>
                    <a:pt x="430057" y="820735"/>
                  </a:cubicBezTo>
                  <a:cubicBezTo>
                    <a:pt x="654344" y="812214"/>
                    <a:pt x="829256" y="623485"/>
                    <a:pt x="820735" y="399199"/>
                  </a:cubicBezTo>
                  <a:cubicBezTo>
                    <a:pt x="812214" y="174912"/>
                    <a:pt x="623485" y="0"/>
                    <a:pt x="399199" y="8521"/>
                  </a:cubicBezTo>
                  <a:close/>
                </a:path>
              </a:pathLst>
            </a:custGeom>
            <a:blipFill>
              <a:blip r:embed="rId6"/>
              <a:stretch>
                <a:fillRect t="-602" r="-949" b="-2558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196766"/>
            <a:ext cx="18288000" cy="4023559"/>
            <a:chOff x="0" y="0"/>
            <a:chExt cx="4816593" cy="10597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59703"/>
            </a:xfrm>
            <a:custGeom>
              <a:avLst/>
              <a:gdLst/>
              <a:ahLst/>
              <a:cxnLst/>
              <a:rect l="l" t="t" r="r" b="b"/>
              <a:pathLst>
                <a:path w="4816592" h="1059703">
                  <a:moveTo>
                    <a:pt x="0" y="0"/>
                  </a:moveTo>
                  <a:lnTo>
                    <a:pt x="4816592" y="0"/>
                  </a:lnTo>
                  <a:lnTo>
                    <a:pt x="4816592" y="1059703"/>
                  </a:lnTo>
                  <a:lnTo>
                    <a:pt x="0" y="1059703"/>
                  </a:ln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116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6973362" y="3650247"/>
            <a:ext cx="4341276" cy="8914961"/>
          </a:xfrm>
          <a:custGeom>
            <a:avLst/>
            <a:gdLst/>
            <a:ahLst/>
            <a:cxnLst/>
            <a:rect l="l" t="t" r="r" b="b"/>
            <a:pathLst>
              <a:path w="4341276" h="8914961">
                <a:moveTo>
                  <a:pt x="0" y="0"/>
                </a:moveTo>
                <a:lnTo>
                  <a:pt x="4341276" y="0"/>
                </a:lnTo>
                <a:lnTo>
                  <a:pt x="4341276" y="8914962"/>
                </a:lnTo>
                <a:lnTo>
                  <a:pt x="0" y="8914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170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309925" y="3703831"/>
            <a:ext cx="7969325" cy="3600582"/>
            <a:chOff x="0" y="0"/>
            <a:chExt cx="1234657" cy="5578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4657" cy="557824"/>
            </a:xfrm>
            <a:custGeom>
              <a:avLst/>
              <a:gdLst/>
              <a:ahLst/>
              <a:cxnLst/>
              <a:rect l="l" t="t" r="r" b="b"/>
              <a:pathLst>
                <a:path w="1234657" h="557824">
                  <a:moveTo>
                    <a:pt x="0" y="0"/>
                  </a:moveTo>
                  <a:lnTo>
                    <a:pt x="1234657" y="0"/>
                  </a:lnTo>
                  <a:lnTo>
                    <a:pt x="1234657" y="557824"/>
                  </a:lnTo>
                  <a:lnTo>
                    <a:pt x="0" y="557824"/>
                  </a:lnTo>
                  <a:close/>
                </a:path>
              </a:pathLst>
            </a:custGeom>
            <a:blipFill>
              <a:blip r:embed="rId3"/>
              <a:stretch>
                <a:fillRect l="-5331" t="-24333" b="-3099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56456" y="6515114"/>
            <a:ext cx="5662110" cy="345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408" b="1" u="sng" dirty="0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PRESENTERS</a:t>
            </a:r>
          </a:p>
          <a:p>
            <a:pPr algn="l">
              <a:lnSpc>
                <a:spcPts val="3372"/>
              </a:lnSpc>
            </a:pPr>
            <a:endParaRPr lang="en-US" sz="2408" b="1" u="sng" dirty="0">
              <a:solidFill>
                <a:srgbClr val="FFFFFF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algn="l">
              <a:lnSpc>
                <a:spcPts val="3372"/>
              </a:lnSpc>
            </a:pPr>
            <a:r>
              <a:rPr lang="en-US" sz="2408" b="1" dirty="0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Aditya Gaur (2301201007)</a:t>
            </a:r>
          </a:p>
          <a:p>
            <a:pPr algn="l">
              <a:lnSpc>
                <a:spcPts val="3372"/>
              </a:lnSpc>
            </a:pPr>
            <a:r>
              <a:rPr lang="en-US" sz="2408" b="1" dirty="0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Gurneesh Singh Banga (2301201009) </a:t>
            </a:r>
          </a:p>
          <a:p>
            <a:pPr algn="l">
              <a:lnSpc>
                <a:spcPts val="3372"/>
              </a:lnSpc>
            </a:pPr>
            <a:r>
              <a:rPr lang="en-US" sz="2408" b="1" dirty="0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Aaradhya (2301201029)</a:t>
            </a:r>
          </a:p>
          <a:p>
            <a:pPr algn="l">
              <a:lnSpc>
                <a:spcPts val="3372"/>
              </a:lnSpc>
            </a:pPr>
            <a:r>
              <a:rPr lang="en-US" sz="2408" b="1" dirty="0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Anu (2301201035)</a:t>
            </a:r>
          </a:p>
          <a:p>
            <a:pPr algn="l">
              <a:lnSpc>
                <a:spcPts val="3372"/>
              </a:lnSpc>
            </a:pPr>
            <a:endParaRPr lang="en-US" sz="2408" b="1" dirty="0">
              <a:solidFill>
                <a:srgbClr val="FFFFFF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algn="l">
              <a:lnSpc>
                <a:spcPts val="3372"/>
              </a:lnSpc>
            </a:pPr>
            <a:r>
              <a:rPr lang="en-US" sz="2408" b="1" u="sng" dirty="0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Program :</a:t>
            </a:r>
            <a:r>
              <a:rPr lang="en-US" sz="2408" b="1" dirty="0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BCA </a:t>
            </a:r>
            <a:r>
              <a:rPr lang="en-US" sz="2408" b="1" dirty="0" err="1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spI</a:t>
            </a:r>
            <a:r>
              <a:rPr lang="en-US" sz="2408" b="1" dirty="0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AI &amp; DS (Sem 5)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4007" y="674858"/>
            <a:ext cx="13419987" cy="288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9"/>
              </a:lnSpc>
            </a:pPr>
            <a:r>
              <a:rPr lang="en-US" sz="14463" b="1">
                <a:solidFill>
                  <a:srgbClr val="134E1A"/>
                </a:solidFill>
                <a:latin typeface="Agrandir Narrow Heavy"/>
                <a:ea typeface="Agrandir Narrow Heavy"/>
                <a:cs typeface="Agrandir Narrow Heavy"/>
                <a:sym typeface="Agrandir Narrow Heavy"/>
              </a:rPr>
              <a:t>THANK YOU!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069114" y="336042"/>
            <a:ext cx="4149772" cy="692658"/>
            <a:chOff x="0" y="0"/>
            <a:chExt cx="5533029" cy="92354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533029" cy="923544"/>
              <a:chOff x="0" y="0"/>
              <a:chExt cx="1092944" cy="18242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92944" cy="182428"/>
              </a:xfrm>
              <a:custGeom>
                <a:avLst/>
                <a:gdLst/>
                <a:ahLst/>
                <a:cxnLst/>
                <a:rect l="l" t="t" r="r" b="b"/>
                <a:pathLst>
                  <a:path w="1092944" h="182428">
                    <a:moveTo>
                      <a:pt x="91214" y="0"/>
                    </a:moveTo>
                    <a:lnTo>
                      <a:pt x="1001730" y="0"/>
                    </a:lnTo>
                    <a:cubicBezTo>
                      <a:pt x="1025921" y="0"/>
                      <a:pt x="1049122" y="9610"/>
                      <a:pt x="1066228" y="26716"/>
                    </a:cubicBezTo>
                    <a:cubicBezTo>
                      <a:pt x="1083334" y="43822"/>
                      <a:pt x="1092944" y="67023"/>
                      <a:pt x="1092944" y="91214"/>
                    </a:cubicBezTo>
                    <a:lnTo>
                      <a:pt x="1092944" y="91214"/>
                    </a:lnTo>
                    <a:cubicBezTo>
                      <a:pt x="1092944" y="141590"/>
                      <a:pt x="1052106" y="182428"/>
                      <a:pt x="1001730" y="182428"/>
                    </a:cubicBezTo>
                    <a:lnTo>
                      <a:pt x="91214" y="182428"/>
                    </a:lnTo>
                    <a:cubicBezTo>
                      <a:pt x="67023" y="182428"/>
                      <a:pt x="43822" y="172818"/>
                      <a:pt x="26716" y="155712"/>
                    </a:cubicBezTo>
                    <a:cubicBezTo>
                      <a:pt x="9610" y="138606"/>
                      <a:pt x="0" y="115406"/>
                      <a:pt x="0" y="91214"/>
                    </a:cubicBezTo>
                    <a:lnTo>
                      <a:pt x="0" y="91214"/>
                    </a:lnTo>
                    <a:cubicBezTo>
                      <a:pt x="0" y="67023"/>
                      <a:pt x="9610" y="43822"/>
                      <a:pt x="26716" y="26716"/>
                    </a:cubicBezTo>
                    <a:cubicBezTo>
                      <a:pt x="43822" y="9610"/>
                      <a:pt x="67023" y="0"/>
                      <a:pt x="91214" y="0"/>
                    </a:cubicBezTo>
                    <a:close/>
                  </a:path>
                </a:pathLst>
              </a:custGeom>
              <a:solidFill>
                <a:srgbClr val="D9DFCE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092944" cy="2395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53303" y="266898"/>
              <a:ext cx="389748" cy="389748"/>
            </a:xfrm>
            <a:custGeom>
              <a:avLst/>
              <a:gdLst/>
              <a:ahLst/>
              <a:cxnLst/>
              <a:rect l="l" t="t" r="r" b="b"/>
              <a:pathLst>
                <a:path w="389748" h="389748">
                  <a:moveTo>
                    <a:pt x="0" y="0"/>
                  </a:moveTo>
                  <a:lnTo>
                    <a:pt x="389748" y="0"/>
                  </a:lnTo>
                  <a:lnTo>
                    <a:pt x="389748" y="389748"/>
                  </a:lnTo>
                  <a:lnTo>
                    <a:pt x="0" y="389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938810" y="164360"/>
              <a:ext cx="4205021" cy="676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TEAM DATAMIX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5504123"/>
            <a:ext cx="2729160" cy="406893"/>
          </a:xfrm>
          <a:custGeom>
            <a:avLst/>
            <a:gdLst/>
            <a:ahLst/>
            <a:cxnLst/>
            <a:rect l="l" t="t" r="r" b="b"/>
            <a:pathLst>
              <a:path w="2729160" h="406893">
                <a:moveTo>
                  <a:pt x="0" y="0"/>
                </a:moveTo>
                <a:lnTo>
                  <a:pt x="2729160" y="0"/>
                </a:lnTo>
                <a:lnTo>
                  <a:pt x="2729160" y="406893"/>
                </a:lnTo>
                <a:lnTo>
                  <a:pt x="0" y="406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530140" y="5504123"/>
            <a:ext cx="2729160" cy="406893"/>
          </a:xfrm>
          <a:custGeom>
            <a:avLst/>
            <a:gdLst/>
            <a:ahLst/>
            <a:cxnLst/>
            <a:rect l="l" t="t" r="r" b="b"/>
            <a:pathLst>
              <a:path w="2729160" h="406893">
                <a:moveTo>
                  <a:pt x="0" y="0"/>
                </a:moveTo>
                <a:lnTo>
                  <a:pt x="2729160" y="0"/>
                </a:lnTo>
                <a:lnTo>
                  <a:pt x="2729160" y="406893"/>
                </a:lnTo>
                <a:lnTo>
                  <a:pt x="0" y="406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431</Words>
  <Application>Microsoft Office PowerPoint</Application>
  <PresentationFormat>Custom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Aileron Bold</vt:lpstr>
      <vt:lpstr>Aileron Ultra-Bold</vt:lpstr>
      <vt:lpstr>Agrandir Narrow Heavy</vt:lpstr>
      <vt:lpstr>Calibri</vt:lpstr>
      <vt:lpstr>Akzidenz-Grotesk Heavy</vt:lpstr>
      <vt:lpstr>Arial</vt:lpstr>
      <vt:lpstr>Aileron Heavy</vt:lpstr>
      <vt:lpstr>Aileron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Team_DataMix_Round1_Presentation</dc:title>
  <cp:lastModifiedBy>Aaradhya -</cp:lastModifiedBy>
  <cp:revision>1</cp:revision>
  <dcterms:created xsi:type="dcterms:W3CDTF">2006-08-16T00:00:00Z</dcterms:created>
  <dcterms:modified xsi:type="dcterms:W3CDTF">2025-10-02T14:10:46Z</dcterms:modified>
  <dc:identifier>DAGiXMVM2RA</dc:identifier>
</cp:coreProperties>
</file>